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feeed99914754" /><Relationship Type="http://schemas.openxmlformats.org/officeDocument/2006/relationships/extended-properties" Target="/docProps/app.xml" Id="R3c9b20a6e38742d9" /><Relationship Type="http://schemas.openxmlformats.org/officeDocument/2006/relationships/officeDocument" Target="/ppt/presentation.xml" Id="Rdc04d05ee32441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400bf35c04698"/>
  </p:sldMasterIdLst>
  <p:notesMasterIdLst>
    <p:notesMasterId xmlns:r="http://schemas.openxmlformats.org/officeDocument/2006/relationships" r:id="R504d4ae9d3a74f24"/>
  </p:notesMasterIdLst>
  <p:sldIdLst>
    <p:sldId xmlns:r="http://schemas.openxmlformats.org/officeDocument/2006/relationships" id="256" r:id="R3f1b9dfe0ee34cac"/>
    <p:sldId xmlns:r="http://schemas.openxmlformats.org/officeDocument/2006/relationships" id="257" r:id="Rc3731f1f62624506"/>
    <p:sldId xmlns:r="http://schemas.openxmlformats.org/officeDocument/2006/relationships" id="258" r:id="R1a64d23aa6d84bff"/>
    <p:sldId xmlns:r="http://schemas.openxmlformats.org/officeDocument/2006/relationships" id="259" r:id="R4535da997696454b"/>
    <p:sldId xmlns:r="http://schemas.openxmlformats.org/officeDocument/2006/relationships" id="260" r:id="Rb7238c9ec590463e"/>
    <p:sldId xmlns:r="http://schemas.openxmlformats.org/officeDocument/2006/relationships" id="261" r:id="R1c3f3e2151f841a4"/>
    <p:sldId xmlns:r="http://schemas.openxmlformats.org/officeDocument/2006/relationships" id="262" r:id="R7c22fabc685a4082"/>
    <p:sldId xmlns:r="http://schemas.openxmlformats.org/officeDocument/2006/relationships" id="263" r:id="R5570a8b2a42b4b38"/>
    <p:sldId xmlns:r="http://schemas.openxmlformats.org/officeDocument/2006/relationships" id="264" r:id="R69a43dd92acb49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67cae06b5b4a64" /><Relationship Type="http://schemas.openxmlformats.org/officeDocument/2006/relationships/slideMaster" Target="/ppt/slideMasters/slideMaster1.xml" Id="Rda1400bf35c04698" /><Relationship Type="http://schemas.openxmlformats.org/officeDocument/2006/relationships/notesMaster" Target="/ppt/notesMasters/notesMaster1.xml" Id="R504d4ae9d3a74f24" /><Relationship Type="http://schemas.openxmlformats.org/officeDocument/2006/relationships/presProps" Target="/ppt/presProps.xml" Id="Rd72c7aaecf904010" /><Relationship Type="http://schemas.openxmlformats.org/officeDocument/2006/relationships/tableStyles" Target="/ppt/tableStyles.xml" Id="R5efa65379220438a" /><Relationship Type="http://schemas.openxmlformats.org/officeDocument/2006/relationships/slide" Target="/ppt/slides/slide1.xml" Id="R3f1b9dfe0ee34cac" /><Relationship Type="http://schemas.openxmlformats.org/officeDocument/2006/relationships/slide" Target="/ppt/slides/slide2.xml" Id="Rc3731f1f62624506" /><Relationship Type="http://schemas.openxmlformats.org/officeDocument/2006/relationships/slide" Target="/ppt/slides/slide3.xml" Id="R1a64d23aa6d84bff" /><Relationship Type="http://schemas.openxmlformats.org/officeDocument/2006/relationships/slide" Target="/ppt/slides/slide4.xml" Id="R4535da997696454b" /><Relationship Type="http://schemas.openxmlformats.org/officeDocument/2006/relationships/slide" Target="/ppt/slides/slide5.xml" Id="Rb7238c9ec590463e" /><Relationship Type="http://schemas.openxmlformats.org/officeDocument/2006/relationships/slide" Target="/ppt/slides/slide6.xml" Id="R1c3f3e2151f841a4" /><Relationship Type="http://schemas.openxmlformats.org/officeDocument/2006/relationships/slide" Target="/ppt/slides/slide7.xml" Id="R7c22fabc685a4082" /><Relationship Type="http://schemas.openxmlformats.org/officeDocument/2006/relationships/slide" Target="/ppt/slides/slide8.xml" Id="R5570a8b2a42b4b38" /><Relationship Type="http://schemas.openxmlformats.org/officeDocument/2006/relationships/slide" Target="/ppt/slides/slide9.xml" Id="R69a43dd92acb49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dcfa555a764b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61b23cf9c44d89" /><Relationship Type="http://schemas.openxmlformats.org/officeDocument/2006/relationships/notesMaster" Target="/ppt/notesMasters/notesMaster1.xml" Id="Rf65e7a334f6345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a94cb454b047f5" /><Relationship Type="http://schemas.openxmlformats.org/officeDocument/2006/relationships/notesMaster" Target="/ppt/notesMasters/notesMaster1.xml" Id="R651d0ef2709a43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e6195d82214623" /><Relationship Type="http://schemas.openxmlformats.org/officeDocument/2006/relationships/notesMaster" Target="/ppt/notesMasters/notesMaster1.xml" Id="Rb6507f116fa743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b8c825b33a40f6" /><Relationship Type="http://schemas.openxmlformats.org/officeDocument/2006/relationships/notesMaster" Target="/ppt/notesMasters/notesMaster1.xml" Id="R450f65d9a95b45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63d113d1db4f59" /><Relationship Type="http://schemas.openxmlformats.org/officeDocument/2006/relationships/notesMaster" Target="/ppt/notesMasters/notesMaster1.xml" Id="Rb212353422cf46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51fb1b694c4c0d" /><Relationship Type="http://schemas.openxmlformats.org/officeDocument/2006/relationships/notesMaster" Target="/ppt/notesMasters/notesMaster1.xml" Id="R8b92716699a448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986d3d58d6406d" /><Relationship Type="http://schemas.openxmlformats.org/officeDocument/2006/relationships/notesMaster" Target="/ppt/notesMasters/notesMaster1.xml" Id="R906a40561ff44d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03286632424592" /><Relationship Type="http://schemas.openxmlformats.org/officeDocument/2006/relationships/notesMaster" Target="/ppt/notesMasters/notesMaster1.xml" Id="R2ed564b233ef46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a5ab804b7e46fb" /><Relationship Type="http://schemas.openxmlformats.org/officeDocument/2006/relationships/notesMaster" Target="/ppt/notesMasters/notesMaster1.xml" Id="R7347ac71513a41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6f47cc2e647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5565df104945e1" /><Relationship Type="http://schemas.openxmlformats.org/officeDocument/2006/relationships/slideLayout" Target="/ppt/slideLayouts/slideLayout1.xml" Id="Rb5f4134228b740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f4134228b740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e4ea026004bbb" /><Relationship Type="http://schemas.openxmlformats.org/officeDocument/2006/relationships/notesSlide" Target="/ppt/notesSlides/notesSlide1.xml" Id="R03c73092b08947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fc07696524c95" /><Relationship Type="http://schemas.openxmlformats.org/officeDocument/2006/relationships/notesSlide" Target="/ppt/notesSlides/notesSlide2.xml" Id="Re7a4a592d37d48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283e5eb6c4ddf" /><Relationship Type="http://schemas.openxmlformats.org/officeDocument/2006/relationships/notesSlide" Target="/ppt/notesSlides/notesSlide3.xml" Id="R634f93069b83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0cdb8b7e54043" /><Relationship Type="http://schemas.openxmlformats.org/officeDocument/2006/relationships/notesSlide" Target="/ppt/notesSlides/notesSlide4.xml" Id="Rb8c18a5ee60740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f82ee96dc47a8" /><Relationship Type="http://schemas.openxmlformats.org/officeDocument/2006/relationships/notesSlide" Target="/ppt/notesSlides/notesSlide5.xml" Id="Rcc2d198be59143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8dbadc8b541d3" /><Relationship Type="http://schemas.openxmlformats.org/officeDocument/2006/relationships/notesSlide" Target="/ppt/notesSlides/notesSlide6.xml" Id="Rda3c94eda56d4f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2f42f332e4593" /><Relationship Type="http://schemas.openxmlformats.org/officeDocument/2006/relationships/notesSlide" Target="/ppt/notesSlides/notesSlide7.xml" Id="Rdf0f9ac38a2443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70b347af4412e" /><Relationship Type="http://schemas.openxmlformats.org/officeDocument/2006/relationships/notesSlide" Target="/ppt/notesSlides/notesSlide8.xml" Id="R36f8e951bac348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99edacff2490e" /><Relationship Type="http://schemas.openxmlformats.org/officeDocument/2006/relationships/notesSlide" Target="/ppt/notesSlides/notesSlide9.xml" Id="Rb0202832c92b48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6EDFEC-44EC-441C-B0D5-898A8B38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5391150"/>
          </a:xfrm>
          <a:prstGeom xmlns:a="http://schemas.openxmlformats.org/drawingml/2006/main" prst="roundRect">
            <a:avLst>
              <a:gd name="adj" fmla="val 2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C13E0-128B-4FD3-AD23-7761F325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MIDTERM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928744-EFC8-4654-9EC5-6EE79697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Seeing the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28420-96BF-4FBA-8E1B-72990CDC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An Interactive Shopping-Platform Simulation for High School Students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EFEFF-C8B6-478B-876C-70552A3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Zhiyan Zhang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Research Advisor: Lawted Wu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400DE-2DF6-4C0C-A2D4-660C4641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0200"/>
            <a:ext cx="2857500" cy="3048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7F2EC"/>
          </a:solidFill>
          <a:ln xmlns:a="http://schemas.openxmlformats.org/drawingml/2006/main" w="9525">
            <a:solidFill>
              <a:srgbClr val="BBD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9C69B-BEE5-4361-B0A1-DA16813D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324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rPr>
              <a:t>Self-perception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rPr>
              <a:t>vs.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rPr>
              <a:t>simulated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A6754-04AE-4C4E-A09E-BD470568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32612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0FFF8D-A49D-41E7-873B-8BA112B6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RESEARCH QUESTION &amp; HYPOTHESIS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FDB98-34C8-473B-9D4D-1863ACCC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Research Question &amp;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7C15D-B37D-4604-8909-E30DE39E2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2A969-0191-437B-BB09-3B7E8D25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0EE87-AB6C-445F-9DDA-F10AAAC6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99972-C668-457A-8F67-D0DD0454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Research Question: How does an interactive shopping-platform simulation affect high school students' recognition of gaps between their consumer self-perception and simulated shopping choices?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BB179-D541-4A03-8AC4-51880EAF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858F9-09CD-4F03-AB07-3ECC9C8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Hypothesis: After using the simulation, high school students will increase their recognition of gaps between their consumer self-perception and simulated shopping choices.</a:t>
            </a:r>
          </a:p>
        </p:txBody>
      </p:sp>
    </p:spTree>
    <p:extLst>
      <p:ext uri="{BB962C8B-B14F-4D97-AF65-F5344CB8AC3E}">
        <p14:creationId xmlns:p14="http://schemas.microsoft.com/office/powerpoint/2010/main" val="872501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7A8E99-1CE8-478A-AAA6-00636143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BACKGROUND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5ED6D-83E0-4160-99EA-AA9FF768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Why This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21D382-C591-413E-984D-C1FAF7E0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E529-7947-4757-92FA-97D9A400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805D6-D5B5-4C13-9070-B40B628D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2F7264-11F0-4AC0-9769-B10EC7AD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High school students meet shopping pages, short videos, membership offers, game items, online reviews, and product recommendations every 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22C73-2B33-4C42-9A11-9D96E5A4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EFCA4-BB50-4008-8998-246F535F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Digital shopping pages can include countdowns, discount reminders, default add-ons, high ratings, and pop-ups.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0A978-3365-486A-BA38-E5BED2B8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B51EB-FBF3-45FA-9266-480906CA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The project studies self-understanding: students may think they are careful, while a simulated page may reveal a gap between self-perception and choice.</a:t>
            </a:r>
          </a:p>
        </p:txBody>
      </p:sp>
    </p:spTree>
    <p:extLst>
      <p:ext uri="{BB962C8B-B14F-4D97-AF65-F5344CB8AC3E}">
        <p14:creationId xmlns:p14="http://schemas.microsoft.com/office/powerpoint/2010/main" val="1436997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2CE78D-DDA3-49AE-9B41-A034596F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LITERATURE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0368F-441C-48A4-8BA7-E5C7DF6C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Literature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E32C3-BAB6-4506-B3D4-E16E7330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207FC-604A-4274-B552-D3F2ECE4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49F7F-7C59-44C7-9E50-AD818118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191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B39DD-86C2-468F-9A70-DAE47E1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rPr>
              <a:t>Advertising literacy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7E8AF-6A9B-4E34-8007-4FEB61DB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Young people may understand persuasion, but this knowledge may not be used in the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97950-3223-44F7-B402-A7241034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38300"/>
            <a:ext cx="5191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BF2FC-2FDA-4F0A-8FAF-ABE933FA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288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45B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45B9D"/>
                </a:solidFill>
                <a:latin typeface="Times New Roman"/>
                <a:ea typeface="Times New Roman"/>
                <a:cs typeface="Times New Roman"/>
              </a:rPr>
              <a:t>Self-report bias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0BFA3-E92F-4F80-B59D-53E812E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907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People's self-descriptions may not fully match their behavior in a task.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5B0144-999D-47D0-8CD1-B08F8387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5191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178BF-C7BE-44F7-A74B-A74A684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4543F"/>
                </a:solidFill>
                <a:latin typeface="Times New Roman"/>
                <a:ea typeface="Times New Roman"/>
                <a:cs typeface="Times New Roman"/>
              </a:rPr>
              <a:t>Decision-making styles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EC6A2-11DF-45A1-9C8C-949AAF3E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Consumer judgment can be measured through multiple dimensions, not one fixed personality label.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C48CA7-5F5F-4687-A885-E9C003CD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86125"/>
            <a:ext cx="51911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3660C-0266-4E99-AD35-418ACDF4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4766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45B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45B9D"/>
                </a:solidFill>
                <a:latin typeface="Times New Roman"/>
                <a:ea typeface="Times New Roman"/>
                <a:cs typeface="Times New Roman"/>
              </a:rPr>
              <a:t>Dark patterns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C60E5-661C-45DA-9355-644D3AA3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385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Shopping websites can use urgency, social proof, default options, and hidden costs.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DDED24-D1E9-44EB-9CCC-438E0753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Key sources: Rozendaal et al.; De Jans et al.; Donaldson &amp; Grant-Vallone; Sproles &amp; Kendall; Mathur et al.</a:t>
            </a:r>
          </a:p>
        </p:txBody>
      </p:sp>
    </p:spTree>
    <p:extLst>
      <p:ext uri="{BB962C8B-B14F-4D97-AF65-F5344CB8AC3E}">
        <p14:creationId xmlns:p14="http://schemas.microsoft.com/office/powerpoint/2010/main" val="15606869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D08B77-4D74-4A6A-AA96-246B5909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RESEARCH DESIGN /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5D241-FBEC-4D2D-81E3-7185A2E9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Research Design /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7F97C-EA6D-4FAA-B54E-E07BE072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9B281-A0CE-44F0-8915-ED27D7AB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F315A-3731-4DA7-A73E-B882BEDE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2400300" cy="3143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417EF-064F-4E34-8280-61CF1F8A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457F0-89C2-4DC2-B25C-5E500804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300B58-EF0E-47C9-9284-324CB93C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Background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2DDE8-B4CC-444F-8153-63BDE244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Budget range, recent product categories, shopping entry points, and category price ranges.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1B4A7-33B0-4BCA-AE8E-11CE2E8E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76400"/>
            <a:ext cx="2400300" cy="3143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BC660-E5AA-4D02-9A41-E3612ECB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05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FDFD5-4E0E-4693-9110-C5496D7D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981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5974A-C544-41D4-B37F-6CDD9454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908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Self-perception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D9F8B-1118-4BD0-B3C4-76B4768D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257550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Short five-point habit statements about budget, information checking, page details, and time pressure.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E2731-B35D-40BF-B1A8-32068DBA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2400300" cy="3143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3AD62-AC28-46AB-8363-4BC55FC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AB1F9-560E-4885-AA2F-33BF625E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ED3E7-5199-473C-BF56-4A8BD177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Shopping 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3C07E-C408-4AA5-B2F8-1E3E3C1D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57550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Product feed, pop-up, detail page, checkout page, reviews, default add-on, and budget reminder.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DCB047-7529-43EA-94B5-F5136568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76400"/>
            <a:ext cx="2400300" cy="3143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D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F6FAB-E284-413B-BB13-31D95A67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050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70E08-6663-4CC1-976C-7267FE59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BB2609-45C1-4627-BCBD-F31FE6A8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590800"/>
            <a:ext cx="1981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Data comparison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869459-2041-4F8D-BE93-61799670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57550"/>
            <a:ext cx="1981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Compare self-perception answers with simulated shopping choices and mismatch patterns.</a:t>
            </a:r>
          </a:p>
        </p:txBody>
      </p:sp>
    </p:spTree>
    <p:extLst>
      <p:ext uri="{BB962C8B-B14F-4D97-AF65-F5344CB8AC3E}">
        <p14:creationId xmlns:p14="http://schemas.microsoft.com/office/powerpoint/2010/main" val="15663648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8DD55E-D22B-4786-9D5D-A8651E40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RESEARCH PLAN &amp; CHALLENGES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CFFF5-8BC7-4CAE-9064-0E7A17C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Plan &amp; 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8950F-DC43-4F1F-B582-E108FB36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50829-0A85-42EB-822E-A36D2417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C9B29-58F5-4E9B-8D52-12B2BB88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57C8D-DB42-4D4B-AA39-4C5E996E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Before June 20: revise research logic, update the website, and prepare the midterm presentation.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8D3E4A-D507-4371-BE0D-5E07913E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14A06-6B9D-475E-90E2-2E25FC7D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Late June: rebuild the demo around step-by-step questions and controlled shopping pages.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EB1F5A-165F-46A2-9FD1-9DC0024C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43426-47BD-4067-A70A-C80C1645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Early July: test the website with a small group of high school students.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2BB9F3-74BB-4957-AA64-FFF679F3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94550-1190-450C-9E1E-FA10FC35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Main challenges: self-perception questions may reveal the purpose; product preference and money perception may affect choices; the page must feel realistic without copying a real brand.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F3192-7FB3-4E5C-9701-E201F2F8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36DF9-6EA3-4E62-9495-8DF69FFE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Questions for advisor: whether 60 seconds per page is reasonable, and whether self-perception questions should borrow from existing scales or use daily habit wording.</a:t>
            </a:r>
          </a:p>
        </p:txBody>
      </p:sp>
    </p:spTree>
    <p:extLst>
      <p:ext uri="{BB962C8B-B14F-4D97-AF65-F5344CB8AC3E}">
        <p14:creationId xmlns:p14="http://schemas.microsoft.com/office/powerpoint/2010/main" val="16640711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EB3FC-96A2-49F9-AFCD-F011B3C3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EXPECTED RESULTS — USER STUDY NOT YET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DA5D7-33AF-4BAF-9386-504D0DF3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Expected Results — user study not yet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5B3FA7-4901-442E-9E38-549B034A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BC889-5580-4192-94B5-1C704397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DB56C-8667-4BC7-A8B8-9FB6E3F0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D4E92E-2788-44B1-8B63-80521CE6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573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Some students may show consistency: they say they check information and then check reviews or cancel default add-ons in the simulation.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69D08-A0FF-4FD4-96EA-C43212FE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1AC73-4CA5-43AE-8D52-3713CB99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Some students may show mismatch: they say they control budget, but continue when a product matches their interest and the page shows a time-limited offer.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018B6-5F20-45E9-90B2-71B40BDC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15AC8-2599-4A48-8840-5D17A41E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Product interest may be important. A recently browsed category may make students move closer to purchase.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C4EAA-B165-4B30-8119-5342F6B3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BCFDC-65D3-4BEE-B4CC-33445D92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No user study has been run yet. I will not report any numbers, charts, or conclusions at this stage.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2BD8C-39A1-41B1-BFB9-80CBA052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429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F5F3"/>
          </a:solidFill>
          <a:ln xmlns:a="http://schemas.openxmlformats.org/drawingml/2006/main" w="19050">
            <a:solidFill>
              <a:srgbClr val="A6ADB4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CB584-3141-49A3-9275-840597D5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Insert prototype screenshot here</a:t>
            </a:r>
          </a:p>
        </p:txBody>
      </p:sp>
    </p:spTree>
    <p:extLst>
      <p:ext uri="{BB962C8B-B14F-4D97-AF65-F5344CB8AC3E}">
        <p14:creationId xmlns:p14="http://schemas.microsoft.com/office/powerpoint/2010/main" val="1262954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CD1580-F83B-48D3-ABC1-DF6D4E1E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B693F-BF7B-499B-9E96-D5A2F149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6180E-6826-402D-9F64-A5A17545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6C82E-ACD8-4859-89B0-4B0E1B87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AD01D-161E-458C-817C-796607D3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Braun, V., &amp; Clarke, V. (2006). Using thematic analysis in psychology. Qualitative Research in Psychology.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A1371-3F5F-43B8-A6B7-148BE5DE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De Jans, S., Hudders, L., &amp; Cauberghe, V. (2018). Adolescents' self-reported level of dispositional advertising literacy. Young Consumers.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1E6EE8-AE4F-41E1-9581-306BE27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Donaldson, S. I., &amp; Grant-Vallone, E. J. (2002). Understanding self-report bias in organizational behavior research. Journal of Business and Psychology.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FCD20-A687-44FB-AD45-98048BC3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Mathur, A., et al. (2019). Dark patterns at scale. Proceedings of the ACM on Human-Computer Interaction.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349B-A28D-4571-9989-2ACA4C24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002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Rozendaal, E., et al. (2011). Reconsidering advertising literacy as a defense against advertising effects. Media Psychology.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81AED-9EC6-45E0-9F2C-67D0891B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Sproles, G. B., &amp; Kendall, E. L. (1986). A methodology for profiling consumers' decision-making styles. Journal of Consumer Affairs.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7D526-711F-455A-A192-F31F8AC6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814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Steiner, P. M., Atzmuller, C., &amp; Su, D. (2017). Designing valid and reliable vignette experiments for survey research.</a:t>
            </a:r>
          </a:p>
        </p:txBody>
      </p:sp>
    </p:spTree>
    <p:extLst>
      <p:ext uri="{BB962C8B-B14F-4D97-AF65-F5344CB8AC3E}">
        <p14:creationId xmlns:p14="http://schemas.microsoft.com/office/powerpoint/2010/main" val="1592144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74685-E315-47EC-BA6B-8B1871D1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>
                <a:solidFill>
                  <a:srgbClr val="1F7A5A"/>
                </a:solidFill>
                <a:latin typeface="Times New Roman"/>
                <a:ea typeface="Times New Roman"/>
                <a:cs typeface="Times New Roman"/>
              </a:rPr>
              <a:t>ACKNOWLEDGEMENTS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EB528-ACAD-489F-9ED0-3F08307B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75" b="1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Acknowledgements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7F2E8-D4B1-4BD1-8715-7E934804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144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D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E0F85-9979-4359-B02F-2BE853A4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F686F"/>
                </a:solidFill>
                <a:latin typeface="Times New Roman"/>
                <a:ea typeface="Times New Roman"/>
                <a:cs typeface="Times New Rom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A0AD6-24B4-46C0-B2ED-B95C1836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7826E-A564-41B3-A884-EEDAF90F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383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I would like to thank Research Advisor Lawted Wu for his criticism and guidance.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06339-FB5C-4BFB-86AD-CA51FC56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B17C6-FCAB-442F-AE7F-9B72650E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202124"/>
                </a:solidFill>
                <a:latin typeface="Times New Roman"/>
                <a:ea typeface="Times New Roman"/>
                <a:cs typeface="Times New Roman"/>
              </a:rPr>
              <a:t>His feedback helped me narrow the topic, improve the research design, and make the project more realistic.</a:t>
            </a:r>
          </a:p>
        </p:txBody>
      </p:sp>
    </p:spTree>
    <p:extLst>
      <p:ext uri="{BB962C8B-B14F-4D97-AF65-F5344CB8AC3E}">
        <p14:creationId xmlns:p14="http://schemas.microsoft.com/office/powerpoint/2010/main" val="1919542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2026-06-17T13:51:11.5720000Z</dcterms:created>
  <dcterms:modified xsi:type="dcterms:W3CDTF">2026-06-17T13:51:11.5720000Z</dcterms:modified>
</coreProperties>
</file>